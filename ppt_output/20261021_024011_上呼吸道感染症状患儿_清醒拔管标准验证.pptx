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各大五标准预测成功拔管的PPV（%）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非URI症状组</c:v>
                </c:pt>
              </c:strCache>
            </c:strRef>
          </c:tx>
          <c:spPr>
            <a:solidFill>
              <a:srgbClr val="1E3A66"/>
            </a:solidFill>
          </c:spPr>
          <c:cat>
            <c:strRef>
              <c:f>Sheet1!$A$2:$A$6</c:f>
              <c:strCache>
                <c:ptCount val="5"/>
                <c:pt idx="0">
                  <c:v>睁眼</c:v>
                </c:pt>
                <c:pt idx="1">
                  <c:v>有目的运动</c:v>
                </c:pt>
                <c:pt idx="2">
                  <c:v>面部皱眉</c:v>
                </c:pt>
                <c:pt idx="3">
                  <c:v>双眼会聚凝视</c:v>
                </c:pt>
                <c:pt idx="4">
                  <c:v>潮气量 &gt; 5 mL/kg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93.6</c:v>
                </c:pt>
                <c:pt idx="1">
                  <c:v>94.6</c:v>
                </c:pt>
                <c:pt idx="2">
                  <c:v>95.0</c:v>
                </c:pt>
                <c:pt idx="3">
                  <c:v>94.1</c:v>
                </c:pt>
                <c:pt idx="4">
                  <c:v>95.0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URI症状组</c:v>
                </c:pt>
              </c:strCache>
            </c:strRef>
          </c:tx>
          <c:spPr>
            <a:solidFill>
              <a:srgbClr val="4FB5D9"/>
            </a:solidFill>
          </c:spPr>
          <c:cat>
            <c:strRef>
              <c:f>Sheet1!$A$2:$A$6</c:f>
              <c:strCache>
                <c:ptCount val="5"/>
                <c:pt idx="0">
                  <c:v>睁眼</c:v>
                </c:pt>
                <c:pt idx="1">
                  <c:v>有目的运动</c:v>
                </c:pt>
                <c:pt idx="2">
                  <c:v>面部皱眉</c:v>
                </c:pt>
                <c:pt idx="3">
                  <c:v>双眼会聚凝视</c:v>
                </c:pt>
                <c:pt idx="4">
                  <c:v>潮气量 &gt; 5 mL/kg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95.2</c:v>
                </c:pt>
                <c:pt idx="1">
                  <c:v>93.1</c:v>
                </c:pt>
                <c:pt idx="2">
                  <c:v>93.5</c:v>
                </c:pt>
                <c:pt idx="3">
                  <c:v>93.3</c:v>
                </c:pt>
                <c:pt idx="4">
                  <c:v>93.6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solidFill>
                    <a:srgbClr val="1E3A6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EE0E3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>
              <a:solidFill>
                <a:srgbClr val="DEE0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465667"/>
          </a:solidFill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把临床背景摆清：儿童感染频率很高，而且感染后的气道高反应并不立刻消失。原文给出的量级是每年3到6次，2岁以下甚至9到11次，高反应窗可延续2到4周。也就是说，麻醉医师面对的常常不是“完全健康”的孩子。数据来自正文背景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一页说明URI很常见，这一页说明真正缺的是拔管证据。既往研究在URI组只有25例，虽然PPV达到96.0%，但区间很宽，不能回答当前人群是否仍等效。本次研究把问题改成组间差值能否落在预设5%内，判据更贴近临床决策。数据来自引言和样本量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进入研究设计。作者没有比较是否拔管，而是固定清醒拔管思路后，比较达到至少3项标准时的预测力。关键是这个研究回答“达到标准后是否可靠”，不回答“未达到标准时怎么办”。主要终点是成功拔管PPV，次要终点把PACU离院和48小时随访也纳入。注册号和适用人群都在这一页交代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看数字如何走到主要分析。927例接受筛查，799例入组并完成拔管，最终两个预设队列共760例；数据核查后4例因不足3项标准被排除，剩756例。这里还要注意，手术取消由麻醉主治医师依常规判断，不是按问卷分数决定。方法和结果部分给出了完整流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组工具就是术前家长问卷。每项阳性症状加1分，再加0到3分的主观病情评估；0到1分和3分以上能明确归组，2分反而故意排除。图中示例里，新鼻塞、新咳嗽加上“存在但好转”，总分就是4分。麻醉科医师知道问卷结果，但拔管结局由独立观察者分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作者沿用了前组研究筛出的“大五标准”，而不是重新挑参数。潮气量是唯一有明确阈值的项目，阈值为大于5 mL/kg；其余四项是凝视、皱眉、有目的运动和睁眼。主分析要求五项里至少出现三项，这正是后面要看的组合规则。标准清单来自表1。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“大五”外，作者还同步记录五项常见指标。麻醉药浓度、呼气末二氧化碳、血氧、喉刺激和非咳嗽动作分别反映麻醉深度、通气恢复和氧合。所有患儿都在100%吸入氧浓度下拔管，所以SpO₂阈值必须在这个背景下解读。表1和表5给出了这些指标的阈值及预测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局分级非常具体，核心就是30秒、1分钟和2分钟三个节点。短暂低氧或短时CPAP仍可算成功，超过阈值则进入需干预，严重延长、喉痉挛、再插管等归入需严重干预。为做主要分析，作者又把两个非成功等级合并成一个结局。这样“成功”不是印象判断，而是按预先规则分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统计上最关键的改变，是从“有没有差异”改成“差异是否小到临床可接受”。最初按比例t检验估算每组362例，再上取到380例；但同行评议后，正式分析改为绝对风险差的95% CI等效检验。预先界值是5%，因此CI必须完整落在正负5%的范围内。这个设计避免把不显著误写成等效。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进入结果前，先看两组基线。URI症状组年龄更大、ASA II和III更多，睡眠呼吸障碍也更常见；耳鼻喉手术占43.5%，而非URI组为21.9%。这说明组间不是随机均衡，后续绝对差值虽能检验等效，但不能自动消除术种和基础状态混杂。数据来自表3及结果段。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2回答了URI症状组到底有多“像感冒”。377例URI症状组评分中位数为4，四分位区间3到6；非URI组379例全部是0或1分，2分病例被排除。研究者还记录术前室内空气SpO₂，中位数分别为99%和98%。这里的图像只用于呈现原文分布，没有从图上估读新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现在看主要结果：达到至少3项标准后，非URI组PPV是94.7%，URI症状组是93.9%，差值只有负0.8%，95% CI完整落在正负5%内。需要干预分别为20/379和23/377，说明“预测等效”不是“零事件”，而是风险差足够小。需严重干预为1.9%和2.9%，绝对差1.0%，数据来自主要结果段和表4。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5把五个单项拆开看，结论仍是组间接近。潮气量、凝视、皱眉、有目的运动和睁眼的PPV整体落在93.1%到95.2%，单项眼开在URI组甚至略高。作者真正强调的仍是组合规则，而不是挑某一个最高值。数据来自表5前半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补充指标里，SpO₂大于97%的合并OR最高，为5.63；呼气末二氧化碳小于56 mmHg的合并OR为2.29。两者95% CI都不跨1，而其他三个补充指标的区间都跨1。这个结果支持把氧合和通气恢复作为辅助判断，但并没有取代至少3项“大五标准”。数据来自表5后半部分。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4解释了“需干预”具体是什么。70个这类事件中有58个，也就是82.8%，是拔管后低氧并需要持续airway正压通气处理。两组喉痉挛都是4例、1.1%，再插管和呼吸暂停超过10秒只出现在URI组，但样本数都非常小。逐项P值多在0.063以上，不能解读为单项差异不存在，数据来自表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低氧是URI症状组最明确的代价：至少一次围拔管低氧为27.3%，非URI组是16.4%，绝对差10.9个百分点。图3还显示症状评分越高，低氧事件总体越常见，原文回归式为Y等于3.107X。这个风险信号与拔管成功预测力是并行结果，不能互相抵消。数据来自图3及次要结果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把术后链路补齐。URI组可见分泌物达60.2%，但其中94.7%仍无需干预；PACU最低SpO₂中位数是95%，非URI组是96%，P小于0.001。出院端更乐观：URI组室内空气SpO₂大于96%的218例中，98.6%在48小时内无需额外就诊；SpO₂至少97%的330例中，99.7%按时离院。需要保留随访边界，3到5天电话失访率为14.5%到15.1%。数据来自次要结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临床上最容易误读的是：这项研究比较的是达到至少3项标准后的预测力，并没有随机比较清醒和深拔管。既往试验未显示两种策略的总体事件差异，而本研究URI组仍有23/377、也就是6.1%需要干预。所以如果选择清醒拔管，93.9%的PPV可帮助判断准备度；若选择深拔管，本研究不能提供同等直接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性要逐条说清。单一中心、756例观察设计、只纳入7岁及以下，以及只研究吸入麻醉后气管插管清醒拔管，都限制了外推。更关键的是，主分析主动排除了不足3项标准者，因此不能回答这批人是否也应拔管。原文还列出术种差异，耳鼻喉手术在URI组占43.5%，医师经验也未进入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可以压缩为：至少3项“大五标准”在URI症状组仍有93.9%的成功PPV；URI状态仍会显著增加低氧和分泌物；术前室内空气SpO₂大于96%可帮助判断多数患儿能否按时离院。真正下一步，是把不足3项标准者和替代标准都纳入研究。现有数据支持有条件地应用，不支持URI患儿风险已经消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2057400"/>
            <a:ext cx="6858000" cy="2057400"/>
          </a:xfrm>
        </p:spPr>
        <p:txBody>
          <a:bodyPr wrap="square" anchor="t" lIns="36576" rIns="36576"/>
          <a:lstStyle/>
          <a:p>
            <a:pPr algn="l"/>
            <a:r>
              <a:rPr sz="32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上呼吸道感染症状患儿</a:t>
            </a:r>
          </a:p>
          <a:p>
            <a:pPr algn="l"/>
            <a:r>
              <a:rPr sz="32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清醒拔管标准验证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59936" cy="6858000"/>
          </a:xfrm>
          <a:prstGeom prst="rect">
            <a:avLst/>
          </a:prstGeom>
          <a:solidFill>
            <a:srgbClr val="1E3A6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43016"/>
            <a:ext cx="4059936" cy="1014984"/>
          </a:xfrm>
          <a:prstGeom prst="rect">
            <a:avLst/>
          </a:prstGeom>
          <a:solidFill>
            <a:srgbClr val="4FB5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6858000" cy="822960"/>
          </a:xfrm>
          <a:prstGeom prst="rect">
            <a:avLst/>
          </a:prstGeom>
          <a:noFill/>
        </p:spPr>
        <p:txBody>
          <a:bodyPr wrap="square" anchor="b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围术期医学 · 前瞻性队列研究 ·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297680"/>
            <a:ext cx="2029968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526280"/>
            <a:ext cx="68580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基于756例≤7岁儿童的前瞻性队列分析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T. Wesley Templeton等｜美国维克森林大学医学院麻醉学系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760720"/>
            <a:ext cx="68580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主要分析：非URI症状组379例；URI症状组377例；预设5%等效界值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920240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背景与证据缺口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3172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上呼吸道感染症状是否削弱“大五标准”的拔管预测力？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79" y="1920240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1920240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研究设计与评价方法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2331720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如何界定队列、记录拔管标准并判定拔管结局？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99232"/>
            <a:ext cx="10543032" cy="10972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19272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19272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主要与基线结果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30752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达到至少3项标准是否在两组中等效预测清醒拔管？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319272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3319272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次要结局与术后随访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3730752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上呼吸道感染症状增加哪些围拔管风险，又不改变哪些结局？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98264"/>
            <a:ext cx="10543032" cy="10972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18304"/>
            <a:ext cx="822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718304"/>
            <a:ext cx="42062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临床解读、局限与结论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129784"/>
            <a:ext cx="42062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结果能支持哪些临床判断，又不能外推到哪些人群？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儿童频繁患URI，气道高反应持续2–4周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01 · 背景与证据缺口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从3–6次/年的感染频率到2–4周的高反应窗，围术期风险并非只取决于手术当天。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普通儿童感染频率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3–6次/年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多数儿童每年多次发生URI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&lt;2岁儿童感染频率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9–11次/年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幼儿感染频率最高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URI后气道高反应期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2–4周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症状缓解后仍可持续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10543032" cy="13716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既往URI样本仅25例，拔管标准预测力仍待验证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01 · 背景与证据缺口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研究检验的是“达到≥3项后是否仍可靠”，不是URI是否安全。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既往证据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860036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前组研究中，≥3项“大五标准”对无URI/URI症状者的成功拔管PPV为96.3%。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同一研究URI组PPV为96.0%（24/25；95% CI 88%–100%），样本量仅25例。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手术前7天内存在URI症状与需干预拔管相关，构成本研究要复核的临床矛盾。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5332" y="2011679"/>
            <a:ext cx="13716" cy="3200400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本研究判据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560320"/>
            <a:ext cx="4860036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主要分析纳入756例≤7岁儿童，直接比较URI症状组与非URI症状组的PPV。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预设5%临床等效界值；组间绝对差的95% CI完全落入±5%才判为等效。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研究以≥3项“大五标准”检验跨组等效性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研究设计与评价方法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主分析只纳入达到≥3项标准者；&lt;3项患儿的拔管风险不在本研究中估计。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39"/>
            <a:ext cx="548640" cy="36576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2095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主要终点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320954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达到≥3/5项“大五标准”后，主要终点为清醒拔管成功PPV。</a:t>
            </a:r>
          </a:p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成功指无SpO₂&lt;92%；若发生低氧则持续&lt;30 s，且无其他干预事件。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965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9704" y="2606039"/>
            <a:ext cx="548640" cy="36576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4" y="2743200"/>
            <a:ext cx="32095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次要终点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3246120"/>
            <a:ext cx="320954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比较PACU按时离院及48 h内是否因呼吸问题额外就诊。</a:t>
            </a:r>
          </a:p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同步记录围拔管SpO₂&lt;92%、可见分泌物、术中沙丁胺醇及3–5天随访。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965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8" y="2606039"/>
            <a:ext cx="548640" cy="36576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2743200"/>
            <a:ext cx="32095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246120"/>
            <a:ext cx="320954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纳入≤7岁、择期门诊或日间手术、计划气管插管全身麻醉患儿。</a:t>
            </a:r>
          </a:p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单中心研究；IRB00098231、NCT04155892，并按STROBE报告。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927例筛查后，756例进入主要分析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研究设计与评价方法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排除家庭氧疗、呼吸机依赖、发绀型先心病、急诊、术后住院≥2天、喉罩、深拔管及全静脉麻醉。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057400"/>
            <a:ext cx="1706270" cy="22707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48840"/>
            <a:ext cx="1377086" cy="2087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927例接受筛查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因筛查失败或手术取消剔除；取消由麻醉主治医师常规判断，未按问卷分数或室内空气SpO₂决定。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9230" y="2964180"/>
            <a:ext cx="502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32150" y="2057400"/>
            <a:ext cx="1706270" cy="22707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96742" y="2148840"/>
            <a:ext cx="1377086" cy="2087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799例入组并拔管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拔管时至少具备5项“大五标准”中的1项。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8420" y="2964180"/>
            <a:ext cx="502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41340" y="2057400"/>
            <a:ext cx="1706270" cy="22707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5932" y="2148840"/>
            <a:ext cx="1377086" cy="2087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760例进入预设队列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非URI症状组380例；URI症状组380例。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7611" y="2964180"/>
            <a:ext cx="502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0531" y="2057400"/>
            <a:ext cx="1706270" cy="227076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5123" y="2148840"/>
            <a:ext cx="1377086" cy="2087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4例因不足3项排除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数据核查发现非URI症状组1例、URI症状组3例未达到主分析门槛。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6801" y="2964180"/>
            <a:ext cx="5029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59721" y="2057400"/>
            <a:ext cx="1706270" cy="227076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4313" y="2148840"/>
            <a:ext cx="1377086" cy="2087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756例完成主要分析</a:t>
            </a: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非URI症状组379例；URI症状组377例。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评分0–1与≥3可明确分组，2分者排除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研究设计与评价方法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主麻醉医师未对问卷评分设盲；拔管时由未参与照护的独立观察者记录标准与结局。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753" y="1965960"/>
            <a:ext cx="3058964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837176"/>
            <a:ext cx="6702551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Fig. 1.  Preoperative screening questionnaire used to assign patients into the non-URI symptom group (score 0, 1) or the URI symp…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057400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关键读数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514600"/>
            <a:ext cx="342900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每项阳性症状计1分，家长“当前是否生病”的主观评估再计0–3分。</a:t>
            </a:r>
          </a:p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总分0–1分归非URI症状组；≥3分归URI症状组；2分因判定不确定而排除。</a:t>
            </a:r>
          </a:p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新鼻塞、新咳嗽且症状“存在但好转”的示例总分为4分，进入URI症状组。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5项“大五标准”共同定义拔管准备度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研究设计与评价方法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5项均由独立观察者记录；主分析要求≥3/5项同时存在。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43031" cy="2484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62909"/>
                <a:gridCol w="3690061"/>
                <a:gridCol w="3690061"/>
              </a:tblGrid>
              <a:tr h="414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大五标准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判定阈值或表现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是否纳入主分析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潮气量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5 mL/kg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双眼会聚凝视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出现会聚凝视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面部皱眉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出现面部皱眉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有目的运动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出现有目的动作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睁眼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出现睁眼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5项补充指标覆盖麻醉深度、通气与氧合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研究设计与评价方法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另记录拔管前10 s内最高呼气末二氧化碳；补充指标的PPV与OR见表5。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2361437" cy="21209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1904237" cy="18465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麻醉深度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低呼气末麻醉药浓度：氟烷≤0.2%、异氟烷≤0.1%、地氟烷≤1.0%。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0157" y="1965960"/>
            <a:ext cx="2361437" cy="21209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8757" y="2148840"/>
            <a:ext cx="1904237" cy="18465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通气恢复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呼气末二氧化碳&lt;56 mmHg。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喉刺激试验阳性：刺激后&lt;5 s恢复自主通气。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5" y="1965960"/>
            <a:ext cx="2361437" cy="21209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5" y="2148840"/>
            <a:ext cx="1904237" cy="18465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氧合判读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脉搏血氧饱和度测定SpO₂&gt;97%；所有患儿均在吸入氧浓度100%下拔管。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4553" y="1965960"/>
            <a:ext cx="2361437" cy="212090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3153" y="2148840"/>
            <a:ext cx="1904237" cy="18465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动作模式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记录是否存在咳嗽以外的动作。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30 s、1 min与2 min分三级拔管结局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研究设计与评价方法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2个非成功等级合并为1个主要分析结局；CPAP持续&gt;2 min归为严重干预。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43031" cy="2349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89149"/>
                <a:gridCol w="2493711"/>
                <a:gridCol w="3219728"/>
                <a:gridCol w="4040443"/>
              </a:tblGrid>
              <a:tr h="64515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结局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血氧饱和度下降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 airway 正压通气（CPAP），100% O₂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其他事件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</a:tr>
              <a:tr h="64515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无SpO₂&lt;92%；若发生则持续&lt;30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不需要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0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需干预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&gt;30 s且&lt;1 min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&lt;30 s，或&gt;30 s且&lt;2 min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64515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需严重干预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&gt;1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&gt;2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喉痉挛；呼吸暂停&gt;10 s；再插管；丙泊酚/琥珀胆碱给药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等效分析取代优效性检验，5%界值预先设定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02 · 研究设计与评价方法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95% CI必须完整落入±5%才判等效，不能把“差异不显著”当作等效。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原定样本量方案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860036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按比例t检验估算每组n=362，效能80%、α=0.05、预期差异5%。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每组上取380例以抵消脱落或失访；实际共筛查927例。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5332" y="2011679"/>
            <a:ext cx="13716" cy="3200400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最终统计方案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560320"/>
            <a:ext cx="4860036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同行评议后改用绝对风险差及95% CI的等效性分析，界值仍为±5%。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连续变量用双侧t检验，分类变量用χ²检验；期望频数&lt;5时用Fisher精确检验。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多数次要比较也采用5%等效界值；SAS 9.4完成分析。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耳鼻喉手术占43.5%，两组基线存在结构性差异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03 · 主要与基线结果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术前室内空气SpO₂中位数：非URI组99%（IQR 98%–100%），URI组98%（IQR 97%–99%）。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43031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63163"/>
                <a:gridCol w="4139934"/>
                <a:gridCol w="4139934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特征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非URI症状组（n=379）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URI症状组（n=377）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年龄（月）/体重（kg）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31.0 ± 26.4 / 13.7 ± 7.0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37.9 ± 25.0 / 15.8 ± 8.1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男/女，No.(%)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270 (71.2%) / 109 (28.8%)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 (66.6%) / 126 (33.4%)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ASA I/II/III，No.(%)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163 (43.0%) / 178 (47.0%) / 38 (10.0%)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 (21.5%) / 240 (63.7%) / 56 (14.9%)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睡眠呼吸障碍，No.(%)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 (16.4%)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 (31.6%)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术前用药：咪达唑仑/氯胺酮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 (27.2%) / 16 (4.22%)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 (23.3%) / 14 (3.71%)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普外科/泌尿外科/耳鼻喉科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 (17.4%) / 121 (31.9%) / 83 (21.9%)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(13.3%) / 72 (19.1%) / 164 (43.5%)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神经外科/骨科/眼科/头颈整形/其他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(1.3%) / 30 (7.9%) / 27 (7.1%) / 46 (12.1%) / 1 (0.003%)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(1.1%) / 20 (5.3%) / 29 (7.7%) / 31 (8.2%) / 7 (1.9%)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URI症状组评分中位数为4，分布集中于≥3分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03 · 主要与基线结果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图2展示377例URI症状组的实际评分分布，不从图中目测补充数值。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977" y="1965960"/>
            <a:ext cx="3754516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837176"/>
            <a:ext cx="6702551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Fig. 2.  Histogram of the URI symptom survey scores in the URI  symptom cohort. URI, upper respiratory infection.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057400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关键读数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514600"/>
            <a:ext cx="342900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URI症状组评分中位数4（IQR 3–6），共有377例进入主要分析。</a:t>
            </a:r>
          </a:p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非URI症状组中56.5%评分0、43.5%评分1，共379例。</a:t>
            </a:r>
          </a:p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两组均按评分0–1与≥3分组，评分2者未进入主要分析。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达到≥3项标准，两组拔管PPV等效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03 · 主要与基线结果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95% CI完全落入±5%，支持统计等效；URI症状组仍有23/377需干预。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非URI症状组PPV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94.7%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95% CI 92.5%–97.0%；n=379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URI症状组PPV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93.9%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95% CI 91.5%–96.3%；n=377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1965960"/>
            <a:ext cx="32095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组间绝对差值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350008"/>
            <a:ext cx="3209544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−0.8%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3108960"/>
            <a:ext cx="3209544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95% CI −2.6%–4.2%；完全落入±5%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49039"/>
            <a:ext cx="10543032" cy="13716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543032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800"/>
              </a:spcAft>
              <a:buClr>
                <a:srgbClr val="4FB5D9"/>
              </a:buClr>
              <a:buChar char="•"/>
            </a:pPr>
            <a:r>
              <a:rPr sz="16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需干预事件为20/379（5.3%）与23/377（6.1%）。</a:t>
            </a:r>
          </a:p>
          <a:p>
            <a:pPr algn="l" marL="256032" indent="-219456">
              <a:lnSpc>
                <a:spcPct val="110000"/>
              </a:lnSpc>
              <a:spcAft>
                <a:spcPts val="800"/>
              </a:spcAft>
              <a:buClr>
                <a:srgbClr val="4FB5D9"/>
              </a:buClr>
              <a:buChar char="•"/>
            </a:pPr>
            <a:r>
              <a:rPr sz="16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需严重干预为7/379（1.9%）与11/377（2.9%），绝对差1.0%（95% CI −1.1%–3.2%）。</a:t>
            </a:r>
          </a:p>
          <a:p>
            <a:pPr algn="l" marL="256032" indent="-219456">
              <a:lnSpc>
                <a:spcPct val="110000"/>
              </a:lnSpc>
              <a:spcAft>
                <a:spcPts val="800"/>
              </a:spcAft>
              <a:buClr>
                <a:srgbClr val="4FB5D9"/>
              </a:buClr>
              <a:buChar char="•"/>
            </a:pPr>
            <a:r>
              <a:rPr sz="16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两组拔管时具备的“大五标准”平均为3.73 ± 0.68与3.57 ± 0.71项。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单一大五指标PPV为93.1%–95.2%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03 · 主要与基线结果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单项PPV接近，但主要分析采用≥3/5组合规则；完整95% CI见表5。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965960"/>
          <a:ext cx="6536679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1119" y="2240279"/>
            <a:ext cx="359487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关键读数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1119" y="2697479"/>
            <a:ext cx="3594872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非URI组5项单指标PPV为93.6%–95.0%，URI症状组为93.1%–95.2%。</a:t>
            </a:r>
          </a:p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各指标可评估例数为非URI组103–343例、URI症状组99–323例。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SpO₂&gt;97%的合并OR达5.63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03 · 主要与基线结果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SpO₂&gt;97%与呼气末二氧化碳&lt;56 mmHg的合并OR 95% CI不跨1。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43029" cy="25996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37549"/>
                <a:gridCol w="2806418"/>
                <a:gridCol w="2616795"/>
                <a:gridCol w="758491"/>
                <a:gridCol w="2123776"/>
              </a:tblGrid>
              <a:tr h="6121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补充指标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非URI症状组PPV［95% CI］，n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URI症状组PPV［95% CI］，n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合并PPV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合并OR［95% CI］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低呼气末麻醉药浓度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95.2 [92.2–98.1]，196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93.0 [89.9–96.1]，240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0.843 [0.442–1.61]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呼气末二氧化碳&lt;56 mmHg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95.4 [93.2–97.6]，331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94.8 [92.3–97.3]，289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95.1%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2.29 [1.12–4.70]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SpO₂&gt;97%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 [93.8–97.9]，346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95.0 [92.8–97.3]，326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5.63 [2.65–12.0]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喉刺激试验阳性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95.6 [92.2–99.1]，131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95.1 [91.8–98.4]，155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95.3%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0.790 [0.045–14.0]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咳嗽以外的动作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94.2 [91.7–97.7]，325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93.4 [90.7–96.1]，310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93.8%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0.194 [0.026–1.43]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干预事件以低氧为主，喉痉挛均为1.1%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03 · 主要与基线结果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70个干预/严重干预事件中，58个（82.8%）为拔管后低氧并需持续 airway 正压通气处理。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43031" cy="3180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74879"/>
                <a:gridCol w="1498764"/>
                <a:gridCol w="2635758"/>
                <a:gridCol w="1033630"/>
              </a:tblGrid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事件，No.(%)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非URI症状组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URI症状组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P值</a:t>
                      </a:r>
                    </a:p>
                  </a:txBody>
                  <a:tcPr marL="91440" marR="91440" marT="45720" marB="45720" anchor="ctr">
                    <a:solidFill>
                      <a:srgbClr val="1E3A6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需干预：SpO₂&lt;92%持续&gt;30 s且&lt;1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 (2.4%)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(3.5%)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需干预：CPAP 100% O₂持续&gt;30 s且&lt;2 min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(3.2%)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(2.1%)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0.371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需严重干预：SpO₂&lt;92%持续&gt;1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(0.5%)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(1.1%)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需严重干预：再插管/呼吸暂停&gt;10 s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0/0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(0.3%)/1 (0.3%)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不适用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需严重干预：喉痉挛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(1.1%)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(1.1%)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需严重干预：丙泊酚/琥珀胆碱给药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(0.3%)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(0.3%)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0.999</a:t>
                      </a:r>
                    </a:p>
                  </a:txBody>
                  <a:tcPr marL="91440" marR="91440" marT="45720" marB="45720" anchor="ctr">
                    <a:solidFill>
                      <a:srgbClr val="EEF1F6"/>
                    </a:solidFill>
                  </a:tcPr>
                </a:tc>
              </a:tr>
              <a:tr h="39751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3A6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需严重干预：CPAP 100% O₂持续&gt;2 min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(0.5%)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(2.1%)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32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URI症状组围拔管低氧增加10.9个百分点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04 · 次要结局与术后随访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低氧增加不等于“大五标准”预测失效：URI症状组PPV仍为93.9%。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394" y="1965960"/>
            <a:ext cx="2683682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837176"/>
            <a:ext cx="6702551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Fig. 3.  Prevalence of at least one periextubation desaturation event as a function of increasing score on the preoperative sympt…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057400"/>
            <a:ext cx="34290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关键读数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514600"/>
            <a:ext cx="3429000" cy="2743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至少1次围拔管低氧：103/377（27.3%）vs 62/379（16.4%）。</a:t>
            </a:r>
          </a:p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绝对风险差10.9%（95% CI 5.1%–16.0%），提示URI症状与低氧相关。</a:t>
            </a:r>
          </a:p>
          <a:p>
            <a:pPr algn="l" marL="256032" indent="-219456">
              <a:lnSpc>
                <a:spcPct val="110000"/>
              </a:lnSpc>
              <a:spcAft>
                <a:spcPts val="700"/>
              </a:spcAft>
              <a:buClr>
                <a:srgbClr val="4FB5D9"/>
              </a:buClr>
              <a:buChar char="•"/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原文回归趋势式为Y=3.107X；症状评分越高，至少1次低氧事件越常见。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分泌物与PACU低氧上升，多数仍可按时离院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04 · 次要结局与术后随访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7例额外观察或就诊者的术前SpO₂依次为93%、96%、96%、97%、97%、100%、100%。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3270503" cy="220599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2813303" cy="193167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分泌物与术中处置</a:t>
            </a:r>
          </a:p>
          <a:p>
            <a:pPr algn="l">
              <a:lnSpc>
                <a:spcPct val="110000"/>
              </a:lnSpc>
              <a:spcAft>
                <a:spcPts val="440"/>
              </a:spcAft>
            </a:pPr>
            <a:r>
              <a:rPr sz="11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可见分泌物为URI组60.2% vs非URI组16.9%，绝对差43.3%；URI组有分泌物者94.7%仍无需干预。</a:t>
            </a:r>
          </a:p>
          <a:p>
            <a:pPr algn="l">
              <a:lnSpc>
                <a:spcPct val="110000"/>
              </a:lnSpc>
              <a:spcAft>
                <a:spcPts val="440"/>
              </a:spcAft>
            </a:pPr>
            <a:r>
              <a:rPr sz="11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原文报告术中沙丁胺醇为非URI组5/377（1.3%）、URI组31/379（8.2%）。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9223" y="1965960"/>
            <a:ext cx="3270503" cy="220599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7823" y="2148840"/>
            <a:ext cx="2813303" cy="193167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PACU氧合</a:t>
            </a:r>
          </a:p>
          <a:p>
            <a:pPr algn="l">
              <a:lnSpc>
                <a:spcPct val="110000"/>
              </a:lnSpc>
              <a:spcAft>
                <a:spcPts val="440"/>
              </a:spcAft>
            </a:pPr>
            <a:r>
              <a:rPr sz="11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PACU最低SpO₂中位数96%（IQR 94%–98%）vs 95%（IQR 92%–97%），P&lt;0.001。</a:t>
            </a:r>
          </a:p>
          <a:p>
            <a:pPr algn="l">
              <a:lnSpc>
                <a:spcPct val="110000"/>
              </a:lnSpc>
              <a:spcAft>
                <a:spcPts val="440"/>
              </a:spcAft>
            </a:pPr>
            <a:r>
              <a:rPr sz="11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SpO₂最低值&lt;92%为11.9%（45/379）vs 21.0%（79/377）。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5487" y="1965960"/>
            <a:ext cx="3270503" cy="2205990"/>
          </a:xfrm>
          <a:prstGeom prst="rect">
            <a:avLst/>
          </a:prstGeom>
          <a:solidFill>
            <a:srgbClr val="E9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4087" y="2148840"/>
            <a:ext cx="2813303" cy="193167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出院后结局</a:t>
            </a:r>
          </a:p>
          <a:p>
            <a:pPr algn="l">
              <a:lnSpc>
                <a:spcPct val="110000"/>
              </a:lnSpc>
              <a:spcAft>
                <a:spcPts val="440"/>
              </a:spcAft>
            </a:pPr>
            <a:r>
              <a:rPr sz="11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URI组室内空气SpO₂&gt;96%的218例中，98.6%（215/218）48 h内无额外呼吸问题就诊；SpO₂≥97%的330例中，99.7%（329/330）按时离院。</a:t>
            </a:r>
          </a:p>
          <a:p>
            <a:pPr algn="l">
              <a:lnSpc>
                <a:spcPct val="110000"/>
              </a:lnSpc>
              <a:spcAft>
                <a:spcPts val="440"/>
              </a:spcAft>
            </a:pPr>
            <a:r>
              <a:rPr sz="11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近术后额外观察/就诊为0.6%（2/324）vs 2.2%（7/320），绝对差1.6%；3–5天失访15.1% vs 14.5%。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选择清醒拔管时，≥3项标准可指导准备度判断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05 · 临床解读、局限与结论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若选清醒拔管，≥3/5标准对应93.9%成功PPV；本研究不证明URI安全或深拔管更差。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本研究的直接信号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4860036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≥3/5标准时，URI症状组PPV为93.9%，非URI组为94.7%，组间差为−0.8%。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喉痉挛各4例（1.1%）；低于既往两项队列报告的4.2%与2.6%。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5332" y="2011679"/>
            <a:ext cx="13716" cy="3200400"/>
          </a:xfrm>
          <a:prstGeom prst="rect">
            <a:avLst/>
          </a:prstGeom>
          <a:solidFill>
            <a:srgbClr val="DEE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1965960"/>
            <a:ext cx="486003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76B6B"/>
                </a:solidFill>
                <a:latin typeface="Microsoft YaHei"/>
                <a:ea typeface="Microsoft YaHei"/>
                <a:cs typeface="Microsoft YaHei"/>
              </a:rPr>
              <a:t>不能替代策略选择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2560320"/>
            <a:ext cx="4860036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既往清醒与深拔管试验未显示总体呼吸不良事件差异；本研究URI组仍需干预23/377（6.1%）。</a:t>
            </a:r>
          </a:p>
          <a:p>
            <a:pPr algn="l" marL="256032" indent="-219456">
              <a:lnSpc>
                <a:spcPct val="110000"/>
              </a:lnSpc>
              <a:spcAft>
                <a:spcPts val="750"/>
              </a:spcAft>
              <a:buClr>
                <a:srgbClr val="4FB5D9"/>
              </a:buClr>
              <a:buChar char="•"/>
            </a:pPr>
            <a:r>
              <a:rPr sz="15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策略选择仍受医师或机构偏好影响；本研究未随机分配，且URI组耳鼻喉手术占43.5%。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结论仅适用于达到≥3项标准且清醒拔管的患儿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05 · 临床解读、局限与结论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外部有效性由单中心、≤7岁和≥3/5标准共同限定。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05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65960"/>
            <a:ext cx="9354311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单中心前瞻性观察共756例；手术取消和医师判断可能引入选择偏倚。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24328"/>
            <a:ext cx="1005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24328"/>
            <a:ext cx="9354311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仅限≤7岁、择期日间手术、气管插管全身麻醉、吸入麻醉和清醒拔管；不适用于喉罩、深拔管或全静脉麻醉。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82696"/>
            <a:ext cx="1005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82696"/>
            <a:ext cx="9354311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主分析排除&lt;3项标准者；既往研究提示仅1–2项时成功率较低，但本研究不能量化该组风险。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41064"/>
            <a:ext cx="1005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941064"/>
            <a:ext cx="9354311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10项预测指标并非人人具备，单项PPV可能受缺失权重影响；医师经验未纳入分析。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99431"/>
            <a:ext cx="100584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599431"/>
            <a:ext cx="9354311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URI组耳鼻喉手术占43.5%，非URI组为21.9%，术种构成不平衡可影响观察性比较。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≥3项“大五标准”可跨URI状态指导清醒拔管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01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05 · 临床解读、局限与结论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532120"/>
            <a:ext cx="10543032" cy="731520"/>
          </a:xfrm>
          <a:prstGeom prst="rect">
            <a:avLst/>
          </a:prstGeom>
          <a:solidFill>
            <a:srgbClr val="F9E8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5532120"/>
            <a:ext cx="10030967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可推广的是“≥3项标准后等效预测成功拔管”，不是“URI无风险”。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6596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预测性能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23160"/>
            <a:ext cx="4151376" cy="9829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达到≥3/5项标准时，URI症状组PPV为93.9%，非URI组94.7%，差值−0.8%（95% CI −2.6%–4.2%）。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196596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616" y="196596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残余风险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4616" y="2423160"/>
            <a:ext cx="4151376" cy="9829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URI症状仍增加围拔管低氧（27.3% vs 16.4%）和可见分泌物（60.2% vs 16.9%）。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1762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1762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出院判断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74820"/>
            <a:ext cx="4151376" cy="9829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URI组术前室内空气SpO₂&gt;96%的218例中，98.6%在48 h内无额外呼吸问题就诊；SpO₂≥97%的330例中，99.7%按时离院。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817620"/>
            <a:ext cx="8229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4FB5D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4616" y="3817620"/>
            <a:ext cx="41513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证据缺口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4274820"/>
            <a:ext cx="4151376" cy="9829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 marL="256032" indent="-219456">
              <a:lnSpc>
                <a:spcPct val="110000"/>
              </a:lnSpc>
              <a:spcAft>
                <a:spcPts val="650"/>
              </a:spcAft>
              <a:buClr>
                <a:srgbClr val="4FB5D9"/>
              </a:buClr>
              <a:buChar char="•"/>
            </a:pPr>
            <a:r>
              <a:rPr sz="13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下一步应纳入未达到3/5项者及其他标准，形成完整的清醒拔管决策规则。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86384"/>
            <a:ext cx="10543032" cy="713232"/>
          </a:xfrm>
        </p:spPr>
        <p:txBody>
          <a:bodyPr wrap="square" anchor="ctr" lIns="36576" rIns="36576"/>
          <a:lstStyle/>
          <a:p>
            <a:pPr algn="l"/>
            <a:r>
              <a:rPr sz="28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参考文献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72768"/>
            <a:ext cx="1280160" cy="41148"/>
          </a:xfrm>
          <a:prstGeom prst="rect">
            <a:avLst/>
          </a:prstGeom>
          <a:solidFill>
            <a:srgbClr val="E76B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8655" y="6446520"/>
            <a:ext cx="6400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43032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E3A66"/>
                </a:solidFill>
                <a:latin typeface="Microsoft YaHei"/>
                <a:ea typeface="Microsoft YaHei"/>
                <a:cs typeface="Microsoft YaHei"/>
              </a:rPr>
              <a:t>主要文献依据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43032" cy="3749039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1. Templeton TW，Smith LD，Mosher T，等. 有上呼吸道症状接受择期手术儿童常规拔管标准的前瞻性评估. Anesthesiology. 2026;145(5):1097-1106. DOI:10.1097/ALN.0000000000006197.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2. ClinicalTrials.gov. 研究注册号NCT04155892：本研究前瞻性观察队列注册记录.</a:t>
            </a:r>
          </a:p>
          <a:p>
            <a:pPr algn="l">
              <a:lnSpc>
                <a:spcPct val="110000"/>
              </a:lnSpc>
              <a:spcAft>
                <a:spcPts val="560"/>
              </a:spcAft>
            </a:pPr>
            <a:r>
              <a:rPr sz="1400" b="0">
                <a:solidFill>
                  <a:srgbClr val="465667"/>
                </a:solidFill>
                <a:latin typeface="Microsoft YaHei"/>
                <a:ea typeface="Microsoft YaHei"/>
                <a:cs typeface="Microsoft YaHei"/>
              </a:rPr>
              <a:t>3. Templeton TW，等. 补充表1：上呼吸道症状问卷各条目分布. Anesthesiology原文补充数字内容；https://links.lww.com/ALN/E636.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