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057400"/>
            <a:ext cx="6858000" cy="2057400"/>
          </a:xfrm>
        </p:spPr>
        <p:txBody>
          <a:bodyPr wrap="square" anchor="t" lIns="36576" rIns="36576"/>
          <a:lstStyle/>
          <a:p>
            <a:pPr algn="l"/>
            <a:r>
              <a:rPr sz="32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EEG监测在围术期脑健康中的演进与应用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59936" cy="6858000"/>
          </a:xfrm>
          <a:prstGeom prst="rect">
            <a:avLst/>
          </a:prstGeom>
          <a:solidFill>
            <a:srgbClr val="1E3A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43016"/>
            <a:ext cx="4059936" cy="1014984"/>
          </a:xfrm>
          <a:prstGeom prst="rect">
            <a:avLst/>
          </a:prstGeom>
          <a:solidFill>
            <a:srgbClr val="4FB5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6858000" cy="822960"/>
          </a:xfrm>
          <a:prstGeom prst="rect">
            <a:avLst/>
          </a:prstGeom>
          <a:noFill/>
        </p:spPr>
        <p:txBody>
          <a:bodyPr wrap="square" anchor="b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深度综述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97680"/>
            <a:ext cx="2029968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526280"/>
            <a:ext cx="68580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从机制、监测到闭环管理的全景梳理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760720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关键词: EEG, 术后谵妄, 认知功能, 脑易损性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20240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背景与EEG基础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3172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什么是术中EEG的核心技术方面？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920240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920240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不同麻醉药物的EEG特征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33172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各种药物如何塑造EEG？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99232"/>
            <a:ext cx="10543032" cy="10972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19272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19272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处理指数与药物滴定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30752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处理EEG指数在药物滴定中的价值与局限是什么？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319272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319272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EEG谵妄生物标志物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730752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哪些EEG特征预测谵妄，其因果作用是什么？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98264"/>
            <a:ext cx="10543032" cy="10972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1830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18304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年龄与认知对EEG的影响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129784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衰老和基线认知如何改变术中EEG？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71830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4718304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临床意义与未来方向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5129784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EEG如何指导个体化围术期管理？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EEG采样 100–1000 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01 · 背景与EEG基础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3032" cy="42976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采样率 100–1000 Hz 捕获EEG活动：信号以离散电压序列采样</a:t>
            </a:r>
          </a:p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带通滤波 0.5–50 Hz 去除慢漂移和50 Hz干扰：算子定义带通最常设在0.5–50 Hz以消除慢漂移和高频噪声，包括50 Hz交流干扰</a:t>
            </a:r>
          </a:p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伪影检测纠正肌肉/运动干扰：伪影检测则识别并纠正来自运动或肌肉活动的污染</a:t>
            </a:r>
          </a:p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重参考至乳突或共平均值标准化电压：重参考（至乳突或共平均）使各记录站点的电压测量标准化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EEG时频反映脑状态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01 · 背景与EEG基础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时域分析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65960"/>
            <a:ext cx="155996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检视原始EEG幅度、波形、瞬态事件：时域分析检视原始EEG信号随时间的演变，关注幅度、波形形态和瞬态事件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8846" y="196596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3166" y="1965960"/>
            <a:ext cx="155996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清醒状态表现为低幅度、高变异性活动：活跃脑状态产生幅度小、变异性高的信号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3132" y="196596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7452" y="1965960"/>
            <a:ext cx="155996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深度抑制导致更慢、幅度更大的EEG（↑丘脑皮质同步）：随着麻醉诱导的皮质抑制加深，EEG活动变慢且幅度增高，反映了由GABAergic抑制驱动的增强丘脑皮质同步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7419" y="196596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1739" y="1965960"/>
            <a:ext cx="155996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爆发抑制：高幅度爆发交替等电抑制时期：爆发抑制（BS）表现为高幅度爆发与等电抑制期交替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1705" y="196596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6025" y="1965960"/>
            <a:ext cx="155996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等电状态提示近乎完全皮质沉默：最极端模式是等电状态，表明近乎完全皮质沉默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96512"/>
            <a:ext cx="10543032" cy="9144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463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频域分析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800"/>
            <a:ext cx="2018537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分解为δ（0.5–4 Hz）、θ（4–8 Hz）、α（8–13 Hz）、β（13–30 Hz）、γ（&gt;30 Hz）频段：得到的功率谱密度描述信号功率在每个时期内分布于标准频带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7418" y="411480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1738" y="4114800"/>
            <a:ext cx="2018537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采用短时傅里叶变换（STFT）对1–4 s时期计算功率谱密度：这是常用的短时傅里叶变换，分析连续的短时期（通常1–4 s）并部分重叠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0275" y="411480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4595" y="4114800"/>
            <a:ext cx="2018537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频谱边缘频率95%（SEF95）随EEG变慢而下降：在全身麻醉期间，SEF95通常随EEG活动被较慢振荡主导而降低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3134" y="4114800"/>
            <a:ext cx="2743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7453" y="4114800"/>
            <a:ext cx="2018537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连续时间窗口产生谱形图/密度谱数组（DSA）：计算谱分析在连续重叠时间窗口上得到谱形图，临床中通常显示为密度谱数组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丙泊酚 ↑ 前叶α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不同麻醉药物的EEG特征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088636" cy="295275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631436" cy="267843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前叶α前移</a:t>
            </a:r>
          </a:p>
          <a:p>
            <a:pPr algn="l">
              <a:lnSpc>
                <a:spcPct val="110000"/>
              </a:lnSpc>
              <a:spcAft>
                <a:spcPts val="520"/>
              </a:spcAft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α振荡向前移并在前叶区高度相干：在麻醉下，它们发生根本重组：向前移并在前叶区高度相干，称为α前移</a:t>
            </a:r>
          </a:p>
          <a:p>
            <a:pPr algn="l">
              <a:lnSpc>
                <a:spcPct val="110000"/>
              </a:lnSpc>
              <a:spcAft>
                <a:spcPts val="520"/>
              </a:spcAft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前叶电极F8区分清醒与麻醉状态AUC 0.92 ± 0.04：前叶电极F8在32通道研究中区分清醒与麻醉状态的AUC为0.92 ± 0.04</a:t>
            </a:r>
          </a:p>
          <a:p>
            <a:pPr algn="l">
              <a:lnSpc>
                <a:spcPct val="110000"/>
              </a:lnSpc>
              <a:spcAft>
                <a:spcPts val="520"/>
              </a:spcAft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四电极前叶蒙太奇与全21电极记录在VA‑ECMO后预后表现相当：四电极前叶蒙太奇在VA‑ECMO患者心脏骤停后的预后表现与全21电极记录相当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965960"/>
            <a:ext cx="5088636" cy="295275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5956" y="2148840"/>
            <a:ext cx="4631436" cy="267843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爆发抑制倾向</a:t>
            </a:r>
          </a:p>
          <a:p>
            <a:pPr algn="l">
              <a:lnSpc>
                <a:spcPct val="110000"/>
              </a:lnSpc>
              <a:spcAft>
                <a:spcPts val="520"/>
              </a:spcAft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丙泊酚诱发爆发抑制较吸入剂更常见：此模式在丙泊酚中比吸入剂更常见</a:t>
            </a:r>
          </a:p>
          <a:p>
            <a:pPr algn="l">
              <a:lnSpc>
                <a:spcPct val="110000"/>
              </a:lnSpc>
              <a:spcAft>
                <a:spcPts val="520"/>
              </a:spcAft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爆发抑制由高幅度爆发和等电时期组成，深度随剂量增加：爆发抑制表现为高幅度爆发与等电抑制期交替；在更高浓度下EEG转向爆发抑制模式</a:t>
            </a:r>
          </a:p>
          <a:p>
            <a:pPr algn="l">
              <a:lnSpc>
                <a:spcPct val="110000"/>
              </a:lnSpc>
              <a:spcAft>
                <a:spcPts val="520"/>
              </a:spcAft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线粒体功能障碍和ATP消耗减少在动物/计算模型中被牵涉：爆发抑制的生理机制尚不明确，但线粒体功能障碍、突触抑制次级的ATP消耗减少和脑代谢率降低已在动物和计算模型中被提及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药物特异的EEG模式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不同麻醉药物的EEG特征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GABAergic药物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860036" cy="37033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丙泊酚：前叶α前移 + 爆发抑制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塞沃flurane：此外伴有前叶θ振荡相干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5332" y="2011679"/>
            <a:ext cx="13716" cy="3291840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5956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非GABAergic药物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956" y="2560320"/>
            <a:ext cx="4860036" cy="37033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氯胺酮：↑ β和γ活动（NMDA拮抗）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右美托啉：睡眠样纺锤波（σ 12–16 Hz），类似非REM睡眠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BIS 40–60 提示催眠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处理指数与药物滴定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BIS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40–60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表示足够催眠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Entropy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40–60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表示足够催眠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25–50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表示足够催眠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49039"/>
            <a:ext cx="10543032" cy="13716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543032" cy="22859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800"/>
              </a:spcAft>
              <a:buClr>
                <a:srgbClr val="4FB5D9"/>
              </a:buClr>
              <a:buChar char="•"/>
            </a:pPr>
            <a:r>
              <a:rPr sz="16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EEG引导的药物滴定可将麻醉药使用量降低多达30%而不损害安全：此策略可将麻醉药消耗降低多达30%而不影响患者安全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伪影限制EEG指数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04 · EEG谵妄生物标志物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对伪影敏感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23160"/>
            <a:ext cx="4151376" cy="14858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处理指数（BIS、Entropy、PSI）易受肌电和运动伪影影响：局限性包括对伪影的敏感性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五种商业监测仪对52段EEG记录的分析中，三分之二的建议不一致：对52段EEG记录的五种商业监测仪比较发现，三分之二的建议不一致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96596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616" y="196596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药物特异效应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6" y="2423160"/>
            <a:ext cx="4151376" cy="14858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BIS与末端麻醉气体浓度关联弱：BIS常与末端麻醉气体（ETAG）浓度关联较差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BIS在氯胺酮中升高，与麻醉浓度无关：BIS在氯胺酮中独立于麻醉浓度而升高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2054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2054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老年/认知受损者准确度降低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77740"/>
            <a:ext cx="4151376" cy="14858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指数在老年或认知受损患者中的可靠性降低：老年或认知受损患者中指数准确度降低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老年人EEG功率降低2‑3倍导致深度估计偏离：老年人在丙泊酚或塞沃flurane麻醉下EEG振幅约为年轻成人的2‑3倍降低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432054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432054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原始EEG+指数组合优先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4777740"/>
            <a:ext cx="4151376" cy="14858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原始EEG或密度谱数组与处理指数结合可改善解释：原始EEG或密度谱数组的解释与处理指数结合因此更可取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此方法需要特定培训，是常规采用的障碍：虽然这需要特定培训并代表常规采用的障碍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爆发抑制 ↑ 谵妄风险41%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04 · EEG谵妄生物标志物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429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爆发抑制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504291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+41 % 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5042916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meta‑analysis显示术后谵妄相对风险增加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965960"/>
            <a:ext cx="50429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每log‑分钟OR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0008"/>
            <a:ext cx="504291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1.22 (99 % CI 1.06–1.40)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3108960"/>
            <a:ext cx="5042916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Fritz等调整后的谵妄 odds比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49039"/>
            <a:ext cx="10543032" cy="13716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低α功率 → 谵妄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04 · EEG谵妄生物标志物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3032" cy="42976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前叶α功率降低预示更高爆发抑制倾向：Shao等表明前叶α功率降低与更高爆发抑制倾向显著相关，与年龄及其他因素无关，描述‘易损脑’表型</a:t>
            </a:r>
          </a:p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术中α功率降低与术后谵妄风险升高相关：降低的α功率和慢振荡已与术后谵妄风险增加相关联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认知 ↑ 谵妄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04 · EEG谵妄生物标志物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基线认知损伤 ↑ 谵妄风险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860036" cy="37033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术前认知损伤使谵妄风险从18%升至35%：Fritz等表明术前认知损伤显著增加谵妄风险（35% vs. 18%）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约15%的谵妄风险直接归因于基线认知易损性：14.8%的谵妄风险直接归因于基线认知易损性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5332" y="2011679"/>
            <a:ext cx="13716" cy="3291840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5956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爆发抑制介导的贡献甚微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956" y="2560320"/>
            <a:ext cx="4860036" cy="37033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爆发抑制仅介导约2.4%的认知损伤相关谵妄风险：爆发抑制仅介导此效应的一小部分（约2.4%）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预防一例谵妄需在约28个认知损伤患者中避免爆发抑制：因此，预防一例谵妄需在约28个认知损伤患者中避免EEG抑制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老年EEG幅度 ↓ 与年龄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05 · 年龄与认知对EEG的影响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429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老年人EEG幅度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504291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2‑3× 降低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5042916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vs. 年轻成人（丙泊酚/塞沃flurane）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965960"/>
            <a:ext cx="504291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α功率下降＞慢波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0008"/>
            <a:ext cx="5042916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3108960"/>
            <a:ext cx="5042916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老年人α功率下降幅度大于慢波；α相干性和峰频显著降低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49039"/>
            <a:ext cx="10543032" cy="13716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α功率 → 认知 AUC 0.79→0.95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05 · 年龄与认知对EEG的影响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9354311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前叶α功率预测术前认知损伤AUC 0.89（Touchard等）：术中丙泊酚需求与前叶α功率共同预测术前认知损伤AUC 0.89，优于单独使用年龄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05840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17520"/>
            <a:ext cx="9354311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将术中α功率加入术前风险模型（年龄、高血压、心血管史）使30‑月认知衰退AUC从0.79升至0.95：结合术前因素与术中α功率的预测模型使认知衰退的AUC从0.79（95%CI 0.72–0.80）提升至0.95（95%CI 0.91–0.98）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EEG‑ML 预测脑健康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06 · 临床意义与未来方向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3032" cy="42976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术中EEG已作为常规麻醉监测采集，提供高质量信号用于机器学习脑健康筛查：术中EEG提供了更好的信号质量且已作为常规麻醉监测采集，使得无额外医疗系统成本的脆弱性评估成为可能</a:t>
            </a:r>
          </a:p>
          <a:p>
            <a:pPr algn="l" marL="256032" indent="-219456">
              <a:lnSpc>
                <a:spcPct val="110000"/>
              </a:lnSpc>
              <a:spcAft>
                <a:spcPts val="900"/>
              </a:spcAft>
              <a:buClr>
                <a:srgbClr val="4FB5D9"/>
              </a:buClr>
              <a:buChar char="•"/>
            </a:pPr>
            <a:r>
              <a:rPr sz="18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前瞻性研究（例如NCT05951764）旨在细化长期认知和心血管结果的预测；知情同意的伦理需求须慎重考虑：正在进行的前瞻性研究（如下肢骨科手术中的NCT05951764）正在考察术中EEG动态是否能进一步细化长期认知和心血管结果的预测；知情同意及伦理影响须慎重考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4303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主要文献依据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43032" cy="3749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1. de Rocquigny G, Jarrassier A, Vallée F, Cartailler J, El Ayeb K, Touchard C. EEG monitoring in the operating room: current uses and perspectives – a narrative review. Anaesthesia Crit Care Pain Med. 2026;45:101861. doi:10.1016/j.accpm.2026.101861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